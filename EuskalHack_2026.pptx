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sldIdLst>
    <p:sldId id="264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2" r:id="rId18"/>
  </p:sldIdLst>
  <p:sldSz cx="12192000" cy="6858000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2B17D-40BC-80E8-8633-6FE92F881C73}" v="29" dt="2026-06-19T21:56:49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CFE92-A3E0-4D43-8B91-B6BCAE6D3D3A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C8841-DCCA-4F8B-8A0C-DDE61DB930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21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C8841-DCCA-4F8B-8A0C-DDE61DB9301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0418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A90DECA-1C2C-4FBB-9A14-B2DA518DCE6A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B09C0F7-C519-4600-83F9-76E8F742B0A6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48FD18D-23DD-4A0A-92EF-2CCF11E5AB8A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3179F88-0F07-4EDD-8531-24F3D2DAB860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BF99D5A-8F96-45C3-99A2-66678FB8BC0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80E321E-D5AB-411F-B4BD-82CC392AAF7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95F04A-F5B5-4B48-BF6E-A5CDB37480E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67FDDCE-5841-41BE-B38A-4A736AB75DC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B74EA9-E79E-496A-8BB6-F4936C81341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1C68C7-153B-444F-967D-A033C05C62B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6CED06-D826-4480-880E-A6791AC39A5D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320D7C9-A65C-4C5B-8FB7-359FB10D35D6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200" b="0" strike="noStrike" spc="-1">
                <a:solidFill>
                  <a:srgbClr val="8B8B8B"/>
                </a:solidFill>
                <a:latin typeface="Calibri"/>
              </a:rPr>
              <a:t>&lt;footer&gt;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FF4C47-F3E0-41C0-BDC7-B3F2FB6B08BA}" type="slidenum">
              <a:rPr lang="es-E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8.svg"/><Relationship Id="rId5" Type="http://schemas.openxmlformats.org/officeDocument/2006/relationships/image" Target="../media/image2.png"/><Relationship Id="rId10" Type="http://schemas.openxmlformats.org/officeDocument/2006/relationships/image" Target="../media/image17.svg"/><Relationship Id="rId4" Type="http://schemas.openxmlformats.org/officeDocument/2006/relationships/image" Target="../media/image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8"/>
          <p:cNvPicPr/>
          <p:nvPr/>
        </p:nvPicPr>
        <p:blipFill>
          <a:blip r:embed="rId2"/>
          <a:stretch/>
        </p:blipFill>
        <p:spPr>
          <a:xfrm>
            <a:off x="-19664" y="171000"/>
            <a:ext cx="12276000" cy="957600"/>
          </a:xfrm>
          <a:prstGeom prst="rect">
            <a:avLst/>
          </a:prstGeom>
          <a:ln w="0">
            <a:noFill/>
          </a:ln>
        </p:spPr>
      </p:pic>
      <p:pic>
        <p:nvPicPr>
          <p:cNvPr id="42" name="14 Imagen" descr="EH_Blanco.png"/>
          <p:cNvPicPr/>
          <p:nvPr/>
        </p:nvPicPr>
        <p:blipFill>
          <a:blip r:embed="rId3"/>
          <a:stretch/>
        </p:blipFill>
        <p:spPr>
          <a:xfrm>
            <a:off x="114120" y="170008"/>
            <a:ext cx="1144080" cy="957600"/>
          </a:xfrm>
          <a:prstGeom prst="rect">
            <a:avLst/>
          </a:prstGeom>
          <a:ln w="0">
            <a:noFill/>
          </a:ln>
        </p:spPr>
      </p:pic>
      <p:sp>
        <p:nvSpPr>
          <p:cNvPr id="43" name="Rectángulo 10"/>
          <p:cNvSpPr/>
          <p:nvPr/>
        </p:nvSpPr>
        <p:spPr>
          <a:xfrm>
            <a:off x="300" y="234036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b="0" strike="noStrike" spc="-1">
                <a:solidFill>
                  <a:srgbClr val="FFFFFF"/>
                </a:solidFill>
                <a:latin typeface="Berlin Sans FB"/>
                <a:ea typeface="DejaVu Sans"/>
              </a:rPr>
              <a:t>EuskalHack Security Congress IX</a:t>
            </a:r>
            <a:endParaRPr lang="es-ES" sz="4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Imagen 2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53AAE0F-4C7C-9347-8786-CEA369CBFB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363" y="1126615"/>
            <a:ext cx="4034265" cy="5706469"/>
          </a:xfrm>
          <a:prstGeom prst="rect">
            <a:avLst/>
          </a:prstGeom>
        </p:spPr>
      </p:pic>
      <p:sp>
        <p:nvSpPr>
          <p:cNvPr id="4" name="CustomShape 7">
            <a:extLst>
              <a:ext uri="{FF2B5EF4-FFF2-40B4-BE49-F238E27FC236}">
                <a16:creationId xmlns:a16="http://schemas.microsoft.com/office/drawing/2014/main" id="{ACF8D417-FF2B-53FF-D0CA-1EE0E11555B3}"/>
              </a:ext>
            </a:extLst>
          </p:cNvPr>
          <p:cNvSpPr/>
          <p:nvPr/>
        </p:nvSpPr>
        <p:spPr>
          <a:xfrm>
            <a:off x="114120" y="2353587"/>
            <a:ext cx="6580878" cy="27670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spc="-1">
                <a:solidFill>
                  <a:srgbClr val="033878"/>
                </a:solidFill>
                <a:latin typeface="Berlin Sans FB" panose="020E0602020502020306" pitchFamily="34" charset="0"/>
              </a:rPr>
              <a:t>HACK &amp; PATCH 2</a:t>
            </a:r>
          </a:p>
          <a:p>
            <a:pPr algn="ctr">
              <a:lnSpc>
                <a:spcPct val="90000"/>
              </a:lnSpc>
            </a:pPr>
            <a:r>
              <a:rPr lang="es-ES" sz="4400" b="0" strike="noStrike" spc="-1">
                <a:solidFill>
                  <a:srgbClr val="033878"/>
                </a:solidFill>
                <a:latin typeface="Berlin Sans FB" panose="020E0602020502020306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s-ES" sz="3600" spc="-1">
                <a:solidFill>
                  <a:srgbClr val="033878"/>
                </a:solidFill>
                <a:latin typeface="Berlin Sans FB" panose="020E0602020502020306" pitchFamily="34" charset="0"/>
              </a:rPr>
              <a:t>Taller Ataque y técnicas de defensa de aplicaciones web </a:t>
            </a:r>
          </a:p>
        </p:txBody>
      </p:sp>
    </p:spTree>
    <p:extLst>
      <p:ext uri="{BB962C8B-B14F-4D97-AF65-F5344CB8AC3E}">
        <p14:creationId xmlns:p14="http://schemas.microsoft.com/office/powerpoint/2010/main" val="287653571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/>
          <p:cNvPicPr/>
          <p:nvPr/>
        </p:nvPicPr>
        <p:blipFill>
          <a:blip r:embed="rId3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/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/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4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Berlin Sans FB" panose="020E0602020502020306" pitchFamily="34" charset="0"/>
                <a:ea typeface="DejaVu Sans"/>
              </a:endParaRPr>
            </a:p>
          </p:txBody>
        </p:sp>
        <p:pic>
          <p:nvPicPr>
            <p:cNvPr id="48" name="Imagen 2"/>
            <p:cNvPicPr/>
            <p:nvPr/>
          </p:nvPicPr>
          <p:blipFill>
            <a:blip r:embed="rId5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/>
            <p:cNvPicPr/>
            <p:nvPr/>
          </p:nvPicPr>
          <p:blipFill>
            <a:blip r:embed="rId6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/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Berlin Sans FB" panose="020E0602020502020306" pitchFamily="34" charset="0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Berlin Sans FB" panose="020E0602020502020306" pitchFamily="34" charset="0"/>
              </a:rPr>
              <a:t>2</a:t>
            </a:fld>
            <a:endParaRPr lang="es-ES" sz="1200" b="0" strike="noStrike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54" name="Rectángulo 9"/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b="0" strike="noStrike" spc="-1">
                <a:solidFill>
                  <a:srgbClr val="FFFFFF"/>
                </a:solidFill>
                <a:latin typeface="Berlin Sans FB" panose="020E0602020502020306" pitchFamily="34" charset="0"/>
                <a:ea typeface="DejaVu Sans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A48ADE43-70C4-AAC2-6133-CE9F01885C69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Berlin Sans FB" panose="020E0602020502020306" pitchFamily="34" charset="0"/>
                <a:ea typeface="DejaVu Sans"/>
              </a:rPr>
              <a:t>Samuel Hernández y David Soto</a:t>
            </a:r>
            <a:endParaRPr lang="es-ES" sz="1200" b="0" strike="noStrike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6" name="Imagen 5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B1C9BCFC-A56A-C36E-A3A2-F58E2847AD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grpSp>
        <p:nvGrpSpPr>
          <p:cNvPr id="3" name="Group 20">
            <a:extLst>
              <a:ext uri="{FF2B5EF4-FFF2-40B4-BE49-F238E27FC236}">
                <a16:creationId xmlns:a16="http://schemas.microsoft.com/office/drawing/2014/main" id="{B2E5EF85-3014-AD09-2FAF-6B6B6B628720}"/>
              </a:ext>
            </a:extLst>
          </p:cNvPr>
          <p:cNvGrpSpPr/>
          <p:nvPr/>
        </p:nvGrpSpPr>
        <p:grpSpPr>
          <a:xfrm>
            <a:off x="817349" y="2358121"/>
            <a:ext cx="10382370" cy="3146540"/>
            <a:chOff x="-1866116" y="1117397"/>
            <a:chExt cx="22194503" cy="6726392"/>
          </a:xfrm>
        </p:grpSpPr>
        <p:sp>
          <p:nvSpPr>
            <p:cNvPr id="4" name="Text Placeholder 13">
              <a:extLst>
                <a:ext uri="{FF2B5EF4-FFF2-40B4-BE49-F238E27FC236}">
                  <a16:creationId xmlns:a16="http://schemas.microsoft.com/office/drawing/2014/main" id="{19EDB0C5-6B13-78F1-8A12-6EADFF61E243}"/>
                </a:ext>
              </a:extLst>
            </p:cNvPr>
            <p:cNvSpPr txBox="1">
              <a:spLocks/>
            </p:cNvSpPr>
            <p:nvPr/>
          </p:nvSpPr>
          <p:spPr>
            <a:xfrm>
              <a:off x="10027818" y="6150855"/>
              <a:ext cx="8611062" cy="168119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>
                  <a:solidFill>
                    <a:srgbClr val="033878"/>
                  </a:solidFill>
                  <a:latin typeface="Berlin Sans FB" panose="020E0602020502020306" pitchFamily="34" charset="0"/>
                </a:rPr>
                <a:t>FullStack Expert</a:t>
              </a:r>
            </a:p>
          </p:txBody>
        </p:sp>
        <p:sp>
          <p:nvSpPr>
            <p:cNvPr id="5" name="Text Placeholder 1">
              <a:extLst>
                <a:ext uri="{FF2B5EF4-FFF2-40B4-BE49-F238E27FC236}">
                  <a16:creationId xmlns:a16="http://schemas.microsoft.com/office/drawing/2014/main" id="{620BDD8D-95A3-F27C-1EAF-2BBDD956586A}"/>
                </a:ext>
              </a:extLst>
            </p:cNvPr>
            <p:cNvSpPr txBox="1">
              <a:spLocks/>
            </p:cNvSpPr>
            <p:nvPr/>
          </p:nvSpPr>
          <p:spPr>
            <a:xfrm>
              <a:off x="10029404" y="5003400"/>
              <a:ext cx="9383220" cy="10234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3200">
                  <a:solidFill>
                    <a:srgbClr val="0D0D0D"/>
                  </a:solidFill>
                  <a:latin typeface="Berlin Sans FB" panose="020E0602020502020306" pitchFamily="34" charset="0"/>
                </a:rPr>
                <a:t>Samuel Hernández</a:t>
              </a:r>
            </a:p>
          </p:txBody>
        </p:sp>
        <p:sp>
          <p:nvSpPr>
            <p:cNvPr id="7" name="Text Placeholder 4">
              <a:extLst>
                <a:ext uri="{FF2B5EF4-FFF2-40B4-BE49-F238E27FC236}">
                  <a16:creationId xmlns:a16="http://schemas.microsoft.com/office/drawing/2014/main" id="{90D46D14-0202-4B38-8598-A1E8DA35488A}"/>
                </a:ext>
              </a:extLst>
            </p:cNvPr>
            <p:cNvSpPr txBox="1">
              <a:spLocks/>
            </p:cNvSpPr>
            <p:nvPr/>
          </p:nvSpPr>
          <p:spPr>
            <a:xfrm>
              <a:off x="-1866116" y="6150855"/>
              <a:ext cx="9774383" cy="169293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>
                  <a:solidFill>
                    <a:srgbClr val="033878"/>
                  </a:solidFill>
                  <a:latin typeface="Berlin Sans FB" panose="020E0602020502020306" pitchFamily="34" charset="0"/>
                </a:rPr>
                <a:t>Cybersecurity Principal</a:t>
              </a:r>
            </a:p>
            <a:p>
              <a:endParaRPr lang="en-GB" sz="3200">
                <a:latin typeface="Berlin Sans FB" panose="020E0602020502020306" pitchFamily="34" charset="0"/>
              </a:endParaRPr>
            </a:p>
          </p:txBody>
        </p:sp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03875A40-00D0-6517-38F5-E2A97CA482CC}"/>
                </a:ext>
              </a:extLst>
            </p:cNvPr>
            <p:cNvSpPr txBox="1">
              <a:spLocks/>
            </p:cNvSpPr>
            <p:nvPr/>
          </p:nvSpPr>
          <p:spPr>
            <a:xfrm>
              <a:off x="-1864647" y="5008302"/>
              <a:ext cx="5436429" cy="87121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3200">
                  <a:solidFill>
                    <a:srgbClr val="0D0D0D"/>
                  </a:solidFill>
                  <a:latin typeface="Berlin Sans FB" panose="020E0602020502020306" pitchFamily="34" charset="0"/>
                </a:rPr>
                <a:t>David Soto</a:t>
              </a:r>
            </a:p>
          </p:txBody>
        </p:sp>
        <p:pic>
          <p:nvPicPr>
            <p:cNvPr id="9" name="Picture Placeholder 23" descr="A person wearing glasses and a white shirt&#10;&#10;AI-generated content may be incorrect.">
              <a:extLst>
                <a:ext uri="{FF2B5EF4-FFF2-40B4-BE49-F238E27FC236}">
                  <a16:creationId xmlns:a16="http://schemas.microsoft.com/office/drawing/2014/main" id="{9EE38256-1328-1645-E262-C8A198FEE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7" r="15857"/>
            <a:stretch>
              <a:fillRect/>
            </a:stretch>
          </p:blipFill>
          <p:spPr>
            <a:xfrm>
              <a:off x="-1865016" y="1117397"/>
              <a:ext cx="3492500" cy="3492500"/>
            </a:xfrm>
            <a:prstGeom prst="ellipse">
              <a:avLst/>
            </a:prstGeom>
          </p:spPr>
        </p:pic>
        <p:pic>
          <p:nvPicPr>
            <p:cNvPr id="10" name="Picture Placeholder 37" descr="A person with a beard&#10;&#10;AI-generated content may be incorrect.">
              <a:extLst>
                <a:ext uri="{FF2B5EF4-FFF2-40B4-BE49-F238E27FC236}">
                  <a16:creationId xmlns:a16="http://schemas.microsoft.com/office/drawing/2014/main" id="{B8EC6743-EF8E-CDF7-E9F1-F2D0F2EC5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63" r="16563"/>
            <a:stretch>
              <a:fillRect/>
            </a:stretch>
          </p:blipFill>
          <p:spPr>
            <a:xfrm>
              <a:off x="10029404" y="1117397"/>
              <a:ext cx="3492000" cy="3492000"/>
            </a:xfrm>
            <a:prstGeom prst="ellipse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CE621A-0F2F-1F0D-74E7-8DD8FC94A443}"/>
                </a:ext>
              </a:extLst>
            </p:cNvPr>
            <p:cNvSpPr txBox="1"/>
            <p:nvPr/>
          </p:nvSpPr>
          <p:spPr>
            <a:xfrm>
              <a:off x="5540709" y="3268340"/>
              <a:ext cx="2991472" cy="789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D0D0D"/>
                  </a:solidFill>
                  <a:latin typeface="Berlin Sans FB" panose="020E0602020502020306" pitchFamily="34" charset="0"/>
                </a:rPr>
                <a:t>Barcelona</a:t>
              </a:r>
            </a:p>
          </p:txBody>
        </p:sp>
        <p:pic>
          <p:nvPicPr>
            <p:cNvPr id="12" name="Picture 2" descr="ERNI_Logo_060720_dark_blue_RGB">
              <a:extLst>
                <a:ext uri="{FF2B5EF4-FFF2-40B4-BE49-F238E27FC236}">
                  <a16:creationId xmlns:a16="http://schemas.microsoft.com/office/drawing/2014/main" id="{53F50031-7E18-4229-EE2B-77A344E34C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6739" y="2109236"/>
              <a:ext cx="2158670" cy="800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D368FE-F591-EE37-0526-096F366D8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2096760" y="1794443"/>
              <a:ext cx="2358364" cy="23032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662506-3395-757D-182B-285AA61AF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711173" y="2093143"/>
              <a:ext cx="813265" cy="81326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8F30DFC-7176-8303-4408-321C05771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03473" y="3129791"/>
              <a:ext cx="813265" cy="81326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EF1AAA-5660-CA15-8FA1-842E9E7FCDCB}"/>
                </a:ext>
              </a:extLst>
            </p:cNvPr>
            <p:cNvSpPr txBox="1"/>
            <p:nvPr/>
          </p:nvSpPr>
          <p:spPr>
            <a:xfrm>
              <a:off x="17557253" y="3268340"/>
              <a:ext cx="2771134" cy="789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0D0D0D"/>
                  </a:solidFill>
                  <a:latin typeface="Berlin Sans FB" panose="020E0602020502020306" pitchFamily="34" charset="0"/>
                </a:rPr>
                <a:t>Alicante</a:t>
              </a:r>
            </a:p>
          </p:txBody>
        </p:sp>
        <p:pic>
          <p:nvPicPr>
            <p:cNvPr id="17" name="Picture 2" descr="ERNI_Logo_060720_dark_blue_RGB">
              <a:extLst>
                <a:ext uri="{FF2B5EF4-FFF2-40B4-BE49-F238E27FC236}">
                  <a16:creationId xmlns:a16="http://schemas.microsoft.com/office/drawing/2014/main" id="{A931BAD3-7360-B3FB-8701-9F89C12EF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49553" y="2105747"/>
              <a:ext cx="2158670" cy="800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F65CCE-77C6-F4B6-D376-5585C0220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743989" y="2056630"/>
              <a:ext cx="813265" cy="81326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EDC9DC-0095-56E9-36CB-CC3B52073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736288" y="3093279"/>
              <a:ext cx="813265" cy="813265"/>
            </a:xfrm>
            <a:prstGeom prst="rect">
              <a:avLst/>
            </a:prstGeom>
          </p:spPr>
        </p:pic>
        <p:pic>
          <p:nvPicPr>
            <p:cNvPr id="20" name="Picture 19" descr="A qr code with a blue circle and white text&#10;&#10;AI-generated content may be incorrect.">
              <a:extLst>
                <a:ext uri="{FF2B5EF4-FFF2-40B4-BE49-F238E27FC236}">
                  <a16:creationId xmlns:a16="http://schemas.microsoft.com/office/drawing/2014/main" id="{940870CE-9013-F935-B947-C44E8ED6A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128912" y="1732219"/>
              <a:ext cx="2358364" cy="2321641"/>
            </a:xfrm>
            <a:prstGeom prst="rect">
              <a:avLst/>
            </a:prstGeom>
          </p:spPr>
        </p:pic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66996C94-3423-B638-0163-8E551D7E1C98}"/>
              </a:ext>
            </a:extLst>
          </p:cNvPr>
          <p:cNvSpPr txBox="1"/>
          <p:nvPr/>
        </p:nvSpPr>
        <p:spPr>
          <a:xfrm>
            <a:off x="-14160" y="1065750"/>
            <a:ext cx="122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ES"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rPr>
              <a:t>Tus ponentes favoritos</a:t>
            </a:r>
            <a:endParaRPr lang="es-ES" sz="2800" b="0" strike="noStrike" spc="-1">
              <a:solidFill>
                <a:srgbClr val="033878"/>
              </a:solidFill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4770B-0A13-658C-AFA1-84D2D0FF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7B7655F5-F1FA-6EF9-E861-39463F13972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3AA821C4-FC26-BD63-8B6E-486D92324E4F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EEA31B40-3FDF-D9BE-EA29-ABC591EB61F8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1AB764F9-096A-AF1D-0C02-0D41A41FC341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CA4B59BE-A89A-1956-8F30-2BF868EF7F81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FC6643EC-AA47-F272-14F3-CAC824CC9911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D80AFCDB-E894-82E2-C272-B0EBC0E8C1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3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38D28661-DE83-3AC7-C06A-53ADF109E484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B3B16A44-C1E0-2B13-8679-8E31943853C1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A02536D2-7623-5A41-6356-9DF4C1E65D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E438846F-5291-2533-708B-6D7EB619ECA8}"/>
              </a:ext>
            </a:extLst>
          </p:cNvPr>
          <p:cNvSpPr txBox="1"/>
          <p:nvPr/>
        </p:nvSpPr>
        <p:spPr>
          <a:xfrm>
            <a:off x="534426" y="1945048"/>
            <a:ext cx="1130617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err="1">
                <a:latin typeface="Berlin Sans FB"/>
              </a:rPr>
              <a:t>Cómo</a:t>
            </a:r>
            <a:r>
              <a:rPr lang="en-US" sz="2800">
                <a:latin typeface="Berlin Sans FB"/>
              </a:rPr>
              <a:t> se </a:t>
            </a:r>
            <a:r>
              <a:rPr lang="en-US" sz="2800" err="1">
                <a:latin typeface="Berlin Sans FB"/>
              </a:rPr>
              <a:t>explotan</a:t>
            </a:r>
            <a:r>
              <a:rPr lang="en-US" sz="2800">
                <a:latin typeface="Berlin Sans FB"/>
              </a:rPr>
              <a:t> </a:t>
            </a:r>
            <a:r>
              <a:rPr lang="en-US" sz="2800" err="1">
                <a:latin typeface="Berlin Sans FB"/>
              </a:rPr>
              <a:t>vulnerabilidades</a:t>
            </a:r>
            <a:r>
              <a:rPr lang="en-US" sz="2800">
                <a:latin typeface="Berlin Sans FB"/>
              </a:rPr>
              <a:t> reales del OWASP Top 10.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Berlin Sans FB" panose="020E0602020502020306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err="1">
                <a:latin typeface="Berlin Sans FB"/>
              </a:rPr>
              <a:t>Qué</a:t>
            </a:r>
            <a:r>
              <a:rPr lang="en-US" sz="2800">
                <a:latin typeface="Berlin Sans FB"/>
              </a:rPr>
              <a:t> </a:t>
            </a:r>
            <a:r>
              <a:rPr lang="en-US" sz="2800" err="1">
                <a:latin typeface="Berlin Sans FB"/>
              </a:rPr>
              <a:t>errores</a:t>
            </a:r>
            <a:r>
              <a:rPr lang="en-US" sz="2800">
                <a:latin typeface="Berlin Sans FB"/>
              </a:rPr>
              <a:t> de </a:t>
            </a:r>
            <a:r>
              <a:rPr lang="en-US" sz="2800" err="1">
                <a:latin typeface="Berlin Sans FB"/>
              </a:rPr>
              <a:t>desarrollo</a:t>
            </a:r>
            <a:r>
              <a:rPr lang="en-US" sz="2800">
                <a:latin typeface="Berlin Sans FB"/>
              </a:rPr>
              <a:t> las </a:t>
            </a:r>
            <a:r>
              <a:rPr lang="en-US" sz="2800" err="1">
                <a:latin typeface="Berlin Sans FB"/>
              </a:rPr>
              <a:t>hacen</a:t>
            </a:r>
            <a:r>
              <a:rPr lang="en-US" sz="2800">
                <a:latin typeface="Berlin Sans FB"/>
              </a:rPr>
              <a:t> </a:t>
            </a:r>
            <a:r>
              <a:rPr lang="en-US" sz="2800" err="1">
                <a:latin typeface="Berlin Sans FB"/>
              </a:rPr>
              <a:t>posibles</a:t>
            </a:r>
            <a:r>
              <a:rPr lang="en-US" sz="2800">
                <a:latin typeface="Berlin Sans FB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Berlin Sans FB" panose="020E0602020502020306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Cómo corregirlas de forma práctica en tu código.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>
              <a:latin typeface="Berlin Sans FB" panose="020E0602020502020306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>
                <a:latin typeface="Berlin Sans FB"/>
              </a:rPr>
              <a:t>Modo ataque</a:t>
            </a:r>
            <a:endParaRPr lang="es-ES" sz="2800">
              <a:latin typeface="Berlin Sans FB" panose="020E0602020502020306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69BD69-2ED6-B443-6A6D-316D16F3E9FE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n-US"/>
              <a:t>¿</a:t>
            </a:r>
            <a:r>
              <a:rPr lang="en-US" err="1"/>
              <a:t>Qué</a:t>
            </a:r>
            <a:r>
              <a:rPr lang="en-US"/>
              <a:t> vas a </a:t>
            </a:r>
            <a:r>
              <a:rPr lang="en-US" err="1"/>
              <a:t>ver</a:t>
            </a:r>
            <a:r>
              <a:rPr lang="en-US"/>
              <a:t> hoy?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55017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AF7D4-576C-7D97-BB94-0765396D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3C706B51-887F-4DF7-45F0-DA182E47B2D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2D25762F-34E3-6CE5-B288-07CEA6533DFA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AD809E77-E415-FD50-E532-9DF7A4613499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Berlin Sans FB" panose="020E0602020502020306" pitchFamily="34" charset="0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E455F63E-CCD0-A5F6-2B8E-7C1BD019D3C6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9D6FD162-ADB7-C311-290F-D35F4474A933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95F59D17-06B0-5453-A8D7-C4457D9A00B2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Berlin Sans FB" panose="020E0602020502020306" pitchFamily="34" charset="0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02DE8A96-6CF5-0D7F-47A2-6F642E975BB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Berlin Sans FB" panose="020E0602020502020306" pitchFamily="34" charset="0"/>
              </a:rPr>
              <a:t>4</a:t>
            </a:fld>
            <a:endParaRPr lang="es-ES" sz="1200" b="0" strike="noStrike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1B600A75-74AE-2083-BA6C-489C6F9BC10F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 panose="020E0602020502020306" pitchFamily="34" charset="0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01AA8FFC-DDA0-6E04-5A09-5F562B3E976D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Berlin Sans FB" panose="020E0602020502020306" pitchFamily="34" charset="0"/>
              </a:rPr>
              <a:t>Samuel Hernández y David Soto</a:t>
            </a:r>
            <a:endParaRPr lang="es-ES" sz="1200" spc="-1">
              <a:solidFill>
                <a:srgbClr val="000000"/>
              </a:solidFill>
              <a:latin typeface="Berlin Sans FB" panose="020E0602020502020306" pitchFamily="34" charset="0"/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E5A20E58-C6A2-6D55-3B01-0AA6145142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23E6297-0810-1E44-E711-45DD4C818E66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Sobre el TOP 10 OWASP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B732D486-290F-8DF7-6062-9B97A49BB5AB}"/>
              </a:ext>
            </a:extLst>
          </p:cNvPr>
          <p:cNvSpPr/>
          <p:nvPr/>
        </p:nvSpPr>
        <p:spPr>
          <a:xfrm>
            <a:off x="717429" y="2159000"/>
            <a:ext cx="2044700" cy="3568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erlin Sans FB" panose="020E0602020502020306" pitchFamily="34" charset="0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5D6F1A6-C263-E42C-D123-BF6DAFCDB2DD}"/>
              </a:ext>
            </a:extLst>
          </p:cNvPr>
          <p:cNvSpPr txBox="1">
            <a:spLocks/>
          </p:cNvSpPr>
          <p:nvPr/>
        </p:nvSpPr>
        <p:spPr>
          <a:xfrm>
            <a:off x="717429" y="3254099"/>
            <a:ext cx="1968621" cy="190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err="1">
                <a:solidFill>
                  <a:schemeClr val="bg1"/>
                </a:solidFill>
                <a:latin typeface="Berlin Sans FB" panose="020E0602020502020306" pitchFamily="34" charset="0"/>
              </a:rPr>
              <a:t>Seguridad</a:t>
            </a:r>
            <a:r>
              <a:rPr lang="en-GB" sz="2000">
                <a:solidFill>
                  <a:schemeClr val="bg1"/>
                </a:solidFill>
                <a:latin typeface="Berlin Sans FB" panose="020E0602020502020306" pitchFamily="34" charset="0"/>
              </a:rPr>
              <a:t> web</a:t>
            </a:r>
          </a:p>
        </p:txBody>
      </p:sp>
      <p:pic>
        <p:nvPicPr>
          <p:cNvPr id="11" name="Graphic 26">
            <a:extLst>
              <a:ext uri="{FF2B5EF4-FFF2-40B4-BE49-F238E27FC236}">
                <a16:creationId xmlns:a16="http://schemas.microsoft.com/office/drawing/2014/main" id="{93C13754-584A-FB06-31DA-8FDCEB38C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176" y="2346549"/>
            <a:ext cx="785456" cy="720001"/>
          </a:xfrm>
          <a:prstGeom prst="rect">
            <a:avLst/>
          </a:prstGeom>
        </p:spPr>
      </p:pic>
      <p:sp>
        <p:nvSpPr>
          <p:cNvPr id="13" name="Rectangle 27">
            <a:extLst>
              <a:ext uri="{FF2B5EF4-FFF2-40B4-BE49-F238E27FC236}">
                <a16:creationId xmlns:a16="http://schemas.microsoft.com/office/drawing/2014/main" id="{58B4F011-F616-80BA-13BB-6EED9397DCA3}"/>
              </a:ext>
            </a:extLst>
          </p:cNvPr>
          <p:cNvSpPr/>
          <p:nvPr/>
        </p:nvSpPr>
        <p:spPr>
          <a:xfrm>
            <a:off x="2946279" y="2159000"/>
            <a:ext cx="2044700" cy="3568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erlin Sans FB" panose="020E0602020502020306" pitchFamily="34" charset="0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56DB59B-7B72-C378-0255-BDCCDCB728A4}"/>
              </a:ext>
            </a:extLst>
          </p:cNvPr>
          <p:cNvSpPr txBox="1">
            <a:spLocks/>
          </p:cNvSpPr>
          <p:nvPr/>
        </p:nvSpPr>
        <p:spPr>
          <a:xfrm>
            <a:off x="2946279" y="3254099"/>
            <a:ext cx="2044700" cy="190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>
                <a:solidFill>
                  <a:schemeClr val="bg1"/>
                </a:solidFill>
                <a:latin typeface="Berlin Sans FB" panose="020E0602020502020306" pitchFamily="34" charset="0"/>
              </a:rPr>
              <a:t>10 vulnerabilidades más críticas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7D4FA498-21E2-BF63-1D5A-DAFF49240067}"/>
              </a:ext>
            </a:extLst>
          </p:cNvPr>
          <p:cNvSpPr/>
          <p:nvPr/>
        </p:nvSpPr>
        <p:spPr>
          <a:xfrm>
            <a:off x="5161675" y="2150270"/>
            <a:ext cx="2044700" cy="3568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erlin Sans FB" panose="020E0602020502020306" pitchFamily="34" charset="0"/>
            </a:endParaRP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6F1ED6D8-FC87-7CAF-1966-A9A1A4338F14}"/>
              </a:ext>
            </a:extLst>
          </p:cNvPr>
          <p:cNvSpPr txBox="1">
            <a:spLocks/>
          </p:cNvSpPr>
          <p:nvPr/>
        </p:nvSpPr>
        <p:spPr>
          <a:xfrm>
            <a:off x="5175129" y="3254099"/>
            <a:ext cx="2044700" cy="190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>
                <a:solidFill>
                  <a:schemeClr val="bg1"/>
                </a:solidFill>
                <a:latin typeface="Berlin Sans FB" panose="020E0602020502020306" pitchFamily="34" charset="0"/>
              </a:rPr>
              <a:t>Referencia estándar en la industria</a:t>
            </a:r>
            <a:endParaRPr lang="en-GB" sz="200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id="{E34BC24F-0671-8383-C3E3-86BC783DC737}"/>
              </a:ext>
            </a:extLst>
          </p:cNvPr>
          <p:cNvSpPr/>
          <p:nvPr/>
        </p:nvSpPr>
        <p:spPr>
          <a:xfrm>
            <a:off x="7403979" y="2159000"/>
            <a:ext cx="2044700" cy="3568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erlin Sans FB" panose="020E0602020502020306" pitchFamily="34" charset="0"/>
            </a:endParaRP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2A0412F-E582-D83A-C7E2-AAB763CBB646}"/>
              </a:ext>
            </a:extLst>
          </p:cNvPr>
          <p:cNvSpPr txBox="1">
            <a:spLocks/>
          </p:cNvSpPr>
          <p:nvPr/>
        </p:nvSpPr>
        <p:spPr>
          <a:xfrm>
            <a:off x="7403979" y="3254099"/>
            <a:ext cx="2044700" cy="190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>
                <a:solidFill>
                  <a:schemeClr val="bg1"/>
                </a:solidFill>
                <a:latin typeface="Berlin Sans FB" panose="020E0602020502020306" pitchFamily="34" charset="0"/>
              </a:rPr>
              <a:t>Actualizado periódicamente</a:t>
            </a:r>
          </a:p>
        </p:txBody>
      </p:sp>
      <p:sp>
        <p:nvSpPr>
          <p:cNvPr id="25" name="Rectangle 36">
            <a:extLst>
              <a:ext uri="{FF2B5EF4-FFF2-40B4-BE49-F238E27FC236}">
                <a16:creationId xmlns:a16="http://schemas.microsoft.com/office/drawing/2014/main" id="{650203B0-C5A2-0F70-D73A-1015D9C341B8}"/>
              </a:ext>
            </a:extLst>
          </p:cNvPr>
          <p:cNvSpPr/>
          <p:nvPr/>
        </p:nvSpPr>
        <p:spPr>
          <a:xfrm>
            <a:off x="9632829" y="2159000"/>
            <a:ext cx="2044700" cy="3568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erlin Sans FB" panose="020E0602020502020306" pitchFamily="34" charset="0"/>
            </a:endParaRP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1714AD17-BDB4-C1D8-D49D-4CFF31464D2D}"/>
              </a:ext>
            </a:extLst>
          </p:cNvPr>
          <p:cNvSpPr txBox="1">
            <a:spLocks/>
          </p:cNvSpPr>
          <p:nvPr/>
        </p:nvSpPr>
        <p:spPr>
          <a:xfrm>
            <a:off x="9632829" y="3254099"/>
            <a:ext cx="2044700" cy="190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err="1">
                <a:solidFill>
                  <a:schemeClr val="bg1"/>
                </a:solidFill>
                <a:latin typeface="Berlin Sans FB" panose="020E0602020502020306" pitchFamily="34" charset="0"/>
              </a:rPr>
              <a:t>Ayudar</a:t>
            </a:r>
            <a:r>
              <a:rPr lang="en-GB" sz="2000">
                <a:solidFill>
                  <a:schemeClr val="bg1"/>
                </a:solidFill>
                <a:latin typeface="Berlin Sans FB" panose="020E0602020502020306" pitchFamily="34" charset="0"/>
              </a:rPr>
              <a:t> a </a:t>
            </a:r>
            <a:r>
              <a:rPr lang="en-GB" sz="2000" err="1">
                <a:solidFill>
                  <a:schemeClr val="bg1"/>
                </a:solidFill>
                <a:latin typeface="Berlin Sans FB" panose="020E0602020502020306" pitchFamily="34" charset="0"/>
              </a:rPr>
              <a:t>construir</a:t>
            </a:r>
            <a:r>
              <a:rPr lang="en-GB" sz="2000">
                <a:solidFill>
                  <a:schemeClr val="bg1"/>
                </a:solidFill>
                <a:latin typeface="Berlin Sans FB" panose="020E0602020502020306" pitchFamily="34" charset="0"/>
              </a:rPr>
              <a:t> software </a:t>
            </a:r>
            <a:r>
              <a:rPr lang="en-GB" sz="2000" err="1">
                <a:solidFill>
                  <a:schemeClr val="bg1"/>
                </a:solidFill>
                <a:latin typeface="Berlin Sans FB" panose="020E0602020502020306" pitchFamily="34" charset="0"/>
              </a:rPr>
              <a:t>seguro</a:t>
            </a:r>
            <a:endParaRPr lang="en-GB" sz="200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29" name="Picture Placeholder 2">
            <a:extLst>
              <a:ext uri="{FF2B5EF4-FFF2-40B4-BE49-F238E27FC236}">
                <a16:creationId xmlns:a16="http://schemas.microsoft.com/office/drawing/2014/main" id="{3DEA6277-590D-09C8-2191-CF9CE9125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3" r="63"/>
          <a:stretch/>
        </p:blipFill>
        <p:spPr>
          <a:xfrm>
            <a:off x="3072344" y="2346549"/>
            <a:ext cx="720001" cy="720001"/>
          </a:xfrm>
          <a:prstGeom prst="rect">
            <a:avLst/>
          </a:prstGeom>
        </p:spPr>
      </p:pic>
      <p:pic>
        <p:nvPicPr>
          <p:cNvPr id="31" name="Picture Placeholder 4">
            <a:extLst>
              <a:ext uri="{FF2B5EF4-FFF2-40B4-BE49-F238E27FC236}">
                <a16:creationId xmlns:a16="http://schemas.microsoft.com/office/drawing/2014/main" id="{7CAB28E5-B6A5-0971-1224-E6A7FCE4A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306032" y="2344903"/>
            <a:ext cx="723293" cy="723293"/>
          </a:xfrm>
          <a:prstGeom prst="rect">
            <a:avLst/>
          </a:prstGeom>
        </p:spPr>
      </p:pic>
      <p:pic>
        <p:nvPicPr>
          <p:cNvPr id="33" name="Picture Placeholder 33">
            <a:extLst>
              <a:ext uri="{FF2B5EF4-FFF2-40B4-BE49-F238E27FC236}">
                <a16:creationId xmlns:a16="http://schemas.microsoft.com/office/drawing/2014/main" id="{8B84F927-71F7-9C86-92E2-6C397CF8C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63" r="63"/>
          <a:stretch>
            <a:fillRect/>
          </a:stretch>
        </p:blipFill>
        <p:spPr>
          <a:xfrm>
            <a:off x="7574675" y="2344903"/>
            <a:ext cx="721648" cy="721647"/>
          </a:xfrm>
          <a:prstGeom prst="rect">
            <a:avLst/>
          </a:prstGeom>
        </p:spPr>
      </p:pic>
      <p:pic>
        <p:nvPicPr>
          <p:cNvPr id="35" name="Graphic 42">
            <a:extLst>
              <a:ext uri="{FF2B5EF4-FFF2-40B4-BE49-F238E27FC236}">
                <a16:creationId xmlns:a16="http://schemas.microsoft.com/office/drawing/2014/main" id="{7A5FD909-03EC-63E6-8EF4-16F3E725A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57932" y="2344903"/>
            <a:ext cx="760446" cy="7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5576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0CA2-ED44-1092-8476-28E5CA4D3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C73D641C-D9DE-0EDE-6CAA-D78D87876CE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05A5ABEA-671F-2D83-D307-AB6423C0DF76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A7D1E499-3457-B1E5-3D27-D0EF0E1FBC51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DDEDC204-BDCC-909B-B366-AAC8A65E0DBC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B289C87D-9CB7-528E-B613-7895BC019F66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99D8C6A0-2D22-6F03-8DB1-28F77C3CE8A5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432BF9D1-086F-E310-A036-CA517092E2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5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018DE7EF-0515-38C5-3286-6FE9E878A4C2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D3EB7FD7-9197-BEC9-FC54-06865FD11C56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8015A37A-69B6-EA93-814E-6F2C4C6BB6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6BBAC4-AD81-29F5-5FA5-DC5A145F5610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Etapa 1: Reconocimiento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EF7E28-063B-6C26-F18C-BA10A4A4630B}"/>
              </a:ext>
            </a:extLst>
          </p:cNvPr>
          <p:cNvSpPr txBox="1"/>
          <p:nvPr/>
        </p:nvSpPr>
        <p:spPr>
          <a:xfrm>
            <a:off x="595271" y="2596099"/>
            <a:ext cx="5629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>
                <a:solidFill>
                  <a:srgbClr val="033878"/>
                </a:solidFill>
                <a:latin typeface="Berlin Sans FB" panose="020E0602020502020306" pitchFamily="34" charset="0"/>
              </a:rPr>
              <a:t>Objetivo</a:t>
            </a:r>
          </a:p>
          <a:p>
            <a:r>
              <a:rPr lang="es-ES" sz="3200">
                <a:latin typeface="Berlin Sans FB" panose="020E0602020502020306" pitchFamily="34" charset="0"/>
              </a:rPr>
              <a:t>Presentación y exploración de la aplicación. 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946B81D7-B444-CC69-769E-350FD1CA2E7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154" y="1822393"/>
            <a:ext cx="4619447" cy="46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3306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87DD-5FBC-1591-6CF7-0B2768C5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50B1B12B-5403-7555-1083-DE3C4BBE6F9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9ECDB17D-FBF1-E8E9-7CA9-8F2F87E46DC3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5A371346-227F-DC9B-73F6-EA04D131AF73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30E94372-8FA7-8C46-56F8-7A56E1BC2973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0F5CDA26-1722-DB27-1FD9-03FFB215ED94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6F4109EE-DCE1-F7E8-1E1D-92974521DDA1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B15E77D2-7F6D-C783-336B-D2FEDFABCE2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6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DE557696-CFE4-CE53-F0EC-785A48A73841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1BC44563-88EF-41EC-8466-A3556C383649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8EA7ED2D-F5C4-96D0-D266-E37525B247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33D3F3-45E8-189C-E45A-44E5522EBB7E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Por donde empezar…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CE58477A-5DEC-721E-42CB-92610BC7B23A}"/>
              </a:ext>
            </a:extLst>
          </p:cNvPr>
          <p:cNvSpPr txBox="1"/>
          <p:nvPr/>
        </p:nvSpPr>
        <p:spPr>
          <a:xfrm>
            <a:off x="798256" y="2527752"/>
            <a:ext cx="106204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Sistema de Control de acceso.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Sistema de </a:t>
            </a:r>
            <a:r>
              <a:rPr lang="es-ES" sz="2800" err="1">
                <a:latin typeface="Berlin Sans FB" panose="020E0602020502020306" pitchFamily="34" charset="0"/>
              </a:rPr>
              <a:t>Logging</a:t>
            </a:r>
            <a:r>
              <a:rPr lang="es-ES" sz="2800">
                <a:latin typeface="Berlin Sans FB" panose="020E0602020502020306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Palancas y carrito.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Panel de </a:t>
            </a:r>
            <a:r>
              <a:rPr lang="es-ES" sz="2800" err="1">
                <a:latin typeface="Berlin Sans FB" panose="020E0602020502020306" pitchFamily="34" charset="0"/>
              </a:rPr>
              <a:t>administraci</a:t>
            </a:r>
            <a:r>
              <a:rPr lang="en-GB" sz="2800">
                <a:latin typeface="Berlin Sans FB" panose="020E0602020502020306" pitchFamily="34" charset="0"/>
              </a:rPr>
              <a:t>ó</a:t>
            </a:r>
            <a:r>
              <a:rPr lang="es-ES" sz="2800">
                <a:latin typeface="Berlin Sans FB" panose="020E0602020502020306" pitchFamily="34" charset="0"/>
              </a:rPr>
              <a:t>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Perfil del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>
                <a:latin typeface="Berlin Sans FB" panose="020E0602020502020306" pitchFamily="34" charset="0"/>
              </a:rPr>
              <a:t>Lo que no se ve.</a:t>
            </a:r>
          </a:p>
        </p:txBody>
      </p:sp>
    </p:spTree>
    <p:extLst>
      <p:ext uri="{BB962C8B-B14F-4D97-AF65-F5344CB8AC3E}">
        <p14:creationId xmlns:p14="http://schemas.microsoft.com/office/powerpoint/2010/main" val="17731093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446F-1C4B-DF61-23AF-7A184D7D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A2715386-21DF-FCFC-C803-336B0CAAA6D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BBCC0502-F5A6-90FB-DC2F-16FC3C466541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76D85369-B326-AC1F-51BF-20E3D04FD330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551AA063-14D8-C017-E77C-06673B4DC3B2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72981FAA-D99C-1B22-4DB6-1F613D129C13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3D32AE80-C9FB-0E75-058E-CC5C11B1A62C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7AEBC38F-1C49-A7C1-E6EF-D6F434D3D45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7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089A718A-2401-D0D7-DF62-09D2FC4814A3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32CA61C4-D6B8-D37A-6077-23BE07DF10FD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308149A0-9EF0-D0DB-66B1-C86445300E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79133C9-F989-F62C-B394-45C8026F9DE6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11" name="CuadroTexto 2">
            <a:extLst>
              <a:ext uri="{FF2B5EF4-FFF2-40B4-BE49-F238E27FC236}">
                <a16:creationId xmlns:a16="http://schemas.microsoft.com/office/drawing/2014/main" id="{A637646F-2C5D-A351-8515-E9F52625F4C7}"/>
              </a:ext>
            </a:extLst>
          </p:cNvPr>
          <p:cNvSpPr txBox="1"/>
          <p:nvPr/>
        </p:nvSpPr>
        <p:spPr>
          <a:xfrm>
            <a:off x="834527" y="2255451"/>
            <a:ext cx="106204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0. Preparación mental (antes del paso 1)</a:t>
            </a:r>
          </a:p>
          <a:p>
            <a:pPr lvl="1"/>
            <a:r>
              <a:rPr lang="es-ES" sz="2800">
                <a:latin typeface="Berlin Sans FB" panose="020E0602020502020306" pitchFamily="34" charset="0"/>
              </a:rPr>
              <a:t>Objetivo del atacante: que queremos conseguir</a:t>
            </a:r>
          </a:p>
          <a:p>
            <a:pPr lvl="1"/>
            <a:r>
              <a:rPr lang="es-ES" sz="2800">
                <a:latin typeface="Berlin Sans FB" panose="020E0602020502020306" pitchFamily="34" charset="0"/>
              </a:rPr>
              <a:t>Siempre minimizamos ruido</a:t>
            </a:r>
          </a:p>
          <a:p>
            <a:pPr lvl="1"/>
            <a:r>
              <a:rPr lang="es-ES" sz="2800">
                <a:latin typeface="Berlin Sans FB" panose="020E0602020502020306" pitchFamily="34" charset="0"/>
              </a:rPr>
              <a:t>Empezamos observando, no atacando</a:t>
            </a:r>
          </a:p>
        </p:txBody>
      </p:sp>
    </p:spTree>
    <p:extLst>
      <p:ext uri="{BB962C8B-B14F-4D97-AF65-F5344CB8AC3E}">
        <p14:creationId xmlns:p14="http://schemas.microsoft.com/office/powerpoint/2010/main" val="408654635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F481-2269-4F4F-61DF-E26D8A72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99482F35-21F1-1C8C-3BB9-C2A4B206F2C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8D3F30D6-A187-3D52-5CA3-095484D5C73C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FB7A3178-7831-CD69-73E0-7CCE92432527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1C7B8215-4CD0-F9ED-BBE8-AFD5CD8523E0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7A6A8AB2-0424-E0CF-22B4-F22E94A6F11E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AE62348D-6B81-525B-343E-166D662AAA11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BF42F711-6F1F-73EC-61C7-30D1CB84D2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8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27AD7563-1A67-69E8-FDF5-5759C1FD1D16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AB8547C9-C5A0-7D16-C434-3CB8ECD22183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0C00972-EF6A-21A0-6DCD-E5E76123EC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FE7D3F-B16E-EB5A-C938-89963C59F08B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E932F4A9-437D-4320-DABD-5975856DEA2B}"/>
              </a:ext>
            </a:extLst>
          </p:cNvPr>
          <p:cNvSpPr txBox="1"/>
          <p:nvPr/>
        </p:nvSpPr>
        <p:spPr>
          <a:xfrm>
            <a:off x="834527" y="2255451"/>
            <a:ext cx="106204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Reconocimiento Manual </a:t>
            </a:r>
          </a:p>
          <a:p>
            <a:r>
              <a:rPr lang="es-ES" sz="2800">
                <a:latin typeface="Berlin Sans FB" panose="020E0602020502020306" pitchFamily="34" charset="0"/>
              </a:rPr>
              <a:t>	Entender qué es la aplicación.</a:t>
            </a:r>
          </a:p>
          <a:p>
            <a:pPr lvl="2"/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Qué se analiza: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¿Qué tipo de aplicación es?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¿Tiene </a:t>
            </a:r>
            <a:r>
              <a:rPr lang="es-ES" err="1">
                <a:latin typeface="Berlin Sans FB" panose="020E0602020502020306" pitchFamily="34" charset="0"/>
              </a:rPr>
              <a:t>login</a:t>
            </a:r>
            <a:r>
              <a:rPr lang="es-ES">
                <a:latin typeface="Berlin Sans FB" panose="020E0602020502020306" pitchFamily="34" charset="0"/>
              </a:rPr>
              <a:t>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¿Tiene roles?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¿Qué inputs acepta?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¿Hay formularios?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¿Carga datos dinámicamente?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¿API visible?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¿Tecnologías aparentes?</a:t>
            </a:r>
          </a:p>
        </p:txBody>
      </p:sp>
    </p:spTree>
    <p:extLst>
      <p:ext uri="{BB962C8B-B14F-4D97-AF65-F5344CB8AC3E}">
        <p14:creationId xmlns:p14="http://schemas.microsoft.com/office/powerpoint/2010/main" val="36046588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C447-837C-F891-D881-29037885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DDDAEC8B-71FB-1706-7F1F-406633328FF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3D146466-8D27-18BF-454A-9966650ACDC9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0D3D2640-01BE-076B-B895-2AA46179F339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9DCAF8DB-8C60-2CD1-0686-750DC363EC84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ECED95FE-F727-A477-B40B-592CA2CCF39F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014D5D35-BB81-D4B6-DDA1-20E7C70B347E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48FC678C-A13A-4041-BA48-A6CCF98D407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9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23EDA57A-04EC-9626-C7F0-CAB241DB547A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AD28C5EE-0404-5741-ECA0-4DCA9620C57B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7C261173-6005-B888-F4B3-743F00877C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AFE17E-057C-CB30-A2CD-A2BFEBA5965D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BFAAE949-2E5A-1031-50C9-F48BB851F95E}"/>
              </a:ext>
            </a:extLst>
          </p:cNvPr>
          <p:cNvSpPr txBox="1"/>
          <p:nvPr/>
        </p:nvSpPr>
        <p:spPr>
          <a:xfrm>
            <a:off x="834527" y="2255451"/>
            <a:ext cx="1062049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2. Mapeo de superficie</a:t>
            </a:r>
          </a:p>
          <a:p>
            <a:r>
              <a:rPr lang="es-ES" sz="2800">
                <a:latin typeface="Berlin Sans FB" panose="020E0602020502020306" pitchFamily="34" charset="0"/>
              </a:rPr>
              <a:t>	Descubrir qué no está visible en la navegación normal.</a:t>
            </a:r>
          </a:p>
          <a:p>
            <a:r>
              <a:rPr lang="es-ES" sz="2800">
                <a:latin typeface="Berlin Sans FB" panose="020E0602020502020306" pitchFamily="34" charset="0"/>
              </a:rPr>
              <a:t>	</a:t>
            </a:r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Incluye: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Enumeración de rutas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Descubrimiento de </a:t>
            </a:r>
            <a:r>
              <a:rPr lang="es-ES" err="1">
                <a:latin typeface="Berlin Sans FB" panose="020E0602020502020306" pitchFamily="34" charset="0"/>
              </a:rPr>
              <a:t>endpoints</a:t>
            </a:r>
            <a:endParaRPr lang="es-ES">
              <a:latin typeface="Berlin Sans FB" panose="020E0602020502020306" pitchFamily="34" charset="0"/>
            </a:endParaRPr>
          </a:p>
          <a:p>
            <a:pPr lvl="5"/>
            <a:r>
              <a:rPr lang="es-ES">
                <a:latin typeface="Berlin Sans FB" panose="020E0602020502020306" pitchFamily="34" charset="0"/>
              </a:rPr>
              <a:t>Parámetros ocultos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Archivos expuestos</a:t>
            </a:r>
          </a:p>
        </p:txBody>
      </p:sp>
    </p:spTree>
    <p:extLst>
      <p:ext uri="{BB962C8B-B14F-4D97-AF65-F5344CB8AC3E}">
        <p14:creationId xmlns:p14="http://schemas.microsoft.com/office/powerpoint/2010/main" val="66400288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D613-0CC0-0F8A-BF3E-AFDDA493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2D4D5368-051C-1BC9-F558-0A8CF46313B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002F815C-336E-380F-20A5-6DF6604C761D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61AF9947-D768-1EEC-CE6C-3E9D2616463C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E140AB65-F6BA-6412-FECC-91E9825B9050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6B7B8B7A-A4C6-C0EB-7139-A113657DF4F7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44B6C168-2E90-3176-CA8A-7673B22321C3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B3E685D0-9B7E-D55B-AE98-BD8E91221C9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10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D6CB26C6-DF7A-B33A-4605-D28A9FB7B1E3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AD812F08-6505-91C6-2ADF-240A5938AE1A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3344913F-D259-6DAC-EA76-CF33598F76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A248411-AF6B-58AB-DBF0-FCA2FFB79448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3995B920-A7B9-EB9A-E224-3E1923F6B810}"/>
              </a:ext>
            </a:extLst>
          </p:cNvPr>
          <p:cNvSpPr txBox="1"/>
          <p:nvPr/>
        </p:nvSpPr>
        <p:spPr>
          <a:xfrm>
            <a:off x="834527" y="2255451"/>
            <a:ext cx="1062049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3. Exploración de rutas encontradas</a:t>
            </a:r>
          </a:p>
          <a:p>
            <a:r>
              <a:rPr lang="es-ES" sz="2800">
                <a:latin typeface="Berlin Sans FB" panose="020E0602020502020306" pitchFamily="34" charset="0"/>
              </a:rPr>
              <a:t>	Entender qué hace cada </a:t>
            </a:r>
            <a:r>
              <a:rPr lang="es-ES" sz="2800" err="1">
                <a:latin typeface="Berlin Sans FB" panose="020E0602020502020306" pitchFamily="34" charset="0"/>
              </a:rPr>
              <a:t>endpoint</a:t>
            </a:r>
            <a:r>
              <a:rPr lang="es-ES" sz="2800">
                <a:latin typeface="Berlin Sans FB" panose="020E0602020502020306" pitchFamily="34" charset="0"/>
              </a:rPr>
              <a:t>.</a:t>
            </a:r>
          </a:p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	Se analiza: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¿Requiere autenticación?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¿Devuelve datos sensibles?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¿Acepta parámetros?</a:t>
            </a:r>
          </a:p>
          <a:p>
            <a:pPr lvl="5"/>
            <a:r>
              <a:rPr lang="es-ES">
                <a:latin typeface="Berlin Sans FB" panose="020E0602020502020306" pitchFamily="34" charset="0"/>
              </a:rPr>
              <a:t>¿Confía en datos del cliente?</a:t>
            </a:r>
          </a:p>
        </p:txBody>
      </p:sp>
    </p:spTree>
    <p:extLst>
      <p:ext uri="{BB962C8B-B14F-4D97-AF65-F5344CB8AC3E}">
        <p14:creationId xmlns:p14="http://schemas.microsoft.com/office/powerpoint/2010/main" val="37889730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1B5C-AA96-EB6C-CC88-B58BA19C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3698236D-3EC8-766A-727E-36FD0D716F8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C15C480F-AA6A-375F-38BA-FCFC698F7303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E4665EC6-43A4-12A4-669B-CC249ED12821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56C7F0DE-792F-ECE4-6712-28F67489263B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19E14399-AB8B-FF09-F799-4C8500CE003A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7222687E-CD47-F738-E60F-8179E13FDC57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8A6EB450-50A9-1BFB-BE76-6257A34B1F3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11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117BE48F-B65B-6099-0126-1D5F503813F7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4AA6D6BE-BF83-D176-FB64-031F03ACDB72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E2D083C-22AB-DCE5-ACC8-FA34A46A61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95D28D6-E686-FBDD-D8E6-F0B85203E872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6BFBA24B-5321-32B3-451A-AD564A172D4A}"/>
              </a:ext>
            </a:extLst>
          </p:cNvPr>
          <p:cNvSpPr txBox="1"/>
          <p:nvPr/>
        </p:nvSpPr>
        <p:spPr>
          <a:xfrm>
            <a:off x="834527" y="2255451"/>
            <a:ext cx="10620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4. Manipulación de Inputs</a:t>
            </a:r>
          </a:p>
          <a:p>
            <a:pPr lvl="1"/>
            <a:r>
              <a:rPr lang="es-ES" sz="2800">
                <a:latin typeface="Berlin Sans FB" panose="020E0602020502020306" pitchFamily="34" charset="0"/>
              </a:rPr>
              <a:t>Aquí entran las inyecciones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7C9AEF-AAA6-1815-0742-45EF427A8E7C}"/>
              </a:ext>
            </a:extLst>
          </p:cNvPr>
          <p:cNvSpPr txBox="1"/>
          <p:nvPr/>
        </p:nvSpPr>
        <p:spPr>
          <a:xfrm>
            <a:off x="829894" y="3687555"/>
            <a:ext cx="11010707" cy="1808174"/>
          </a:xfrm>
          <a:prstGeom prst="rect">
            <a:avLst/>
          </a:prstGeom>
          <a:noFill/>
        </p:spPr>
        <p:txBody>
          <a:bodyPr wrap="square" numCol="3">
            <a:noAutofit/>
          </a:bodyPr>
          <a:lstStyle/>
          <a:p>
            <a:r>
              <a:rPr lang="es-ES" sz="1800" b="1">
                <a:solidFill>
                  <a:srgbClr val="033878"/>
                </a:solidFill>
                <a:latin typeface="Rajdhani" panose="02000000000000000000"/>
              </a:rPr>
              <a:t>4A – Inyección de código </a:t>
            </a:r>
          </a:p>
          <a:p>
            <a:r>
              <a:rPr lang="es-ES" sz="1800" b="1">
                <a:solidFill>
                  <a:srgbClr val="033878"/>
                </a:solidFill>
                <a:latin typeface="Rajdhani" panose="02000000000000000000"/>
              </a:rPr>
              <a:t>interpretado</a:t>
            </a:r>
          </a:p>
          <a:p>
            <a:r>
              <a:rPr lang="es-ES" sz="1800">
                <a:latin typeface="Rajdhani" panose="02000000000000000000"/>
              </a:rPr>
              <a:t>SQL</a:t>
            </a:r>
          </a:p>
          <a:p>
            <a:r>
              <a:rPr lang="es-ES" sz="1800">
                <a:latin typeface="Rajdhani" panose="02000000000000000000"/>
              </a:rPr>
              <a:t>NoSQL</a:t>
            </a:r>
          </a:p>
          <a:p>
            <a:r>
              <a:rPr lang="es-ES" sz="1800">
                <a:latin typeface="Rajdhani" panose="02000000000000000000"/>
              </a:rPr>
              <a:t>LDAP</a:t>
            </a:r>
          </a:p>
          <a:p>
            <a:r>
              <a:rPr lang="es-ES" sz="1800">
                <a:latin typeface="Rajdhani" panose="02000000000000000000"/>
              </a:rPr>
              <a:t>OS </a:t>
            </a:r>
            <a:r>
              <a:rPr lang="es-ES" sz="1800" err="1">
                <a:latin typeface="Rajdhani" panose="02000000000000000000"/>
              </a:rPr>
              <a:t>Command</a:t>
            </a:r>
            <a:endParaRPr lang="es-ES" sz="1800">
              <a:latin typeface="Rajdhani" panose="02000000000000000000"/>
            </a:endParaRPr>
          </a:p>
          <a:p>
            <a:r>
              <a:rPr lang="es-ES" sz="1800" b="1">
                <a:solidFill>
                  <a:srgbClr val="033878"/>
                </a:solidFill>
                <a:latin typeface="Rajdhani" panose="02000000000000000000"/>
              </a:rPr>
              <a:t>4B – Inyección en cliente</a:t>
            </a:r>
          </a:p>
          <a:p>
            <a:r>
              <a:rPr lang="es-ES" sz="1800">
                <a:latin typeface="Rajdhani" panose="02000000000000000000"/>
              </a:rPr>
              <a:t>XSS</a:t>
            </a:r>
          </a:p>
          <a:p>
            <a:r>
              <a:rPr lang="es-ES" sz="1800">
                <a:latin typeface="Rajdhani" panose="02000000000000000000"/>
              </a:rPr>
              <a:t>Manipulación DOM</a:t>
            </a:r>
          </a:p>
          <a:p>
            <a:endParaRPr lang="es-ES" sz="1800">
              <a:latin typeface="Rajdhani" panose="02000000000000000000"/>
            </a:endParaRPr>
          </a:p>
          <a:p>
            <a:endParaRPr lang="es-ES">
              <a:latin typeface="Rajdhani" panose="02000000000000000000"/>
            </a:endParaRPr>
          </a:p>
          <a:p>
            <a:endParaRPr lang="es-ES" sz="1800">
              <a:latin typeface="Rajdhani" panose="02000000000000000000"/>
            </a:endParaRPr>
          </a:p>
          <a:p>
            <a:r>
              <a:rPr lang="es-ES" sz="1800" b="1">
                <a:solidFill>
                  <a:srgbClr val="033878"/>
                </a:solidFill>
                <a:latin typeface="Rajdhani" panose="02000000000000000000"/>
              </a:rPr>
              <a:t>4C – Manipulación de lógica</a:t>
            </a:r>
          </a:p>
          <a:p>
            <a:r>
              <a:rPr lang="es-ES" sz="1800">
                <a:latin typeface="Rajdhani" panose="02000000000000000000"/>
              </a:rPr>
              <a:t>Cambiar parámetros</a:t>
            </a:r>
          </a:p>
          <a:p>
            <a:r>
              <a:rPr lang="es-ES" sz="1800">
                <a:latin typeface="Rajdhani" panose="02000000000000000000"/>
              </a:rPr>
              <a:t>Alterar </a:t>
            </a:r>
            <a:r>
              <a:rPr lang="es-ES" sz="1800" err="1">
                <a:latin typeface="Rajdhani" panose="02000000000000000000"/>
              </a:rPr>
              <a:t>IDs</a:t>
            </a:r>
            <a:endParaRPr lang="es-ES" sz="1800">
              <a:latin typeface="Rajdhani" panose="02000000000000000000"/>
            </a:endParaRPr>
          </a:p>
          <a:p>
            <a:r>
              <a:rPr lang="es-ES" sz="1800">
                <a:latin typeface="Rajdhani" panose="02000000000000000000"/>
              </a:rPr>
              <a:t>Forzar estados</a:t>
            </a:r>
          </a:p>
          <a:p>
            <a:r>
              <a:rPr lang="es-ES" sz="1800">
                <a:latin typeface="Rajdhani" panose="02000000000000000000"/>
              </a:rPr>
              <a:t>Repetir </a:t>
            </a:r>
            <a:r>
              <a:rPr lang="es-ES" sz="1800" err="1">
                <a:latin typeface="Rajdhani" panose="02000000000000000000"/>
              </a:rPr>
              <a:t>requests</a:t>
            </a:r>
            <a:endParaRPr lang="es-ES" sz="1800">
              <a:latin typeface="Rajdhani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5544098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31A0-BF86-5637-74F3-635EDBDC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6AFD3907-2F5A-C942-3432-15BB3CE1E75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BDFD2434-A62E-5F1D-FE20-8D6AAB8DEC9C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A31C6C53-1575-BC9B-5E52-71915A57704E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F8C4495E-F297-4CB8-33A0-629E3550E50A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C4C8D3C6-E2EA-31DB-273E-803D8B73AB0A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BC4C7AFF-5170-7926-F2B5-FF245DB95CDD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9C3EAB3C-855C-6F46-2EA3-AC884D98641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12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91DA76D3-8AC7-5C30-7F6A-10F0A690EFA6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466E7278-A908-DD6E-E3BA-90BC71C9DC09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E8EE3AAF-9FCD-90AB-B8B6-89E3B51025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C68578-499A-7D2E-89E3-ED3748DF8408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917464E9-4B38-EB9E-2924-AA911922B2DB}"/>
              </a:ext>
            </a:extLst>
          </p:cNvPr>
          <p:cNvSpPr txBox="1"/>
          <p:nvPr/>
        </p:nvSpPr>
        <p:spPr>
          <a:xfrm>
            <a:off x="834527" y="2255451"/>
            <a:ext cx="106204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5. Escalada de privilegios</a:t>
            </a:r>
          </a:p>
          <a:p>
            <a:pPr lvl="2"/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Una vez dentro: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¿Soy usuario?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¿Puedo ser </a:t>
            </a:r>
            <a:r>
              <a:rPr lang="es-ES" sz="2800" err="1">
                <a:latin typeface="Berlin Sans FB" panose="020E0602020502020306" pitchFamily="34" charset="0"/>
              </a:rPr>
              <a:t>admin</a:t>
            </a:r>
            <a:r>
              <a:rPr lang="es-ES" sz="2800">
                <a:latin typeface="Berlin Sans FB" panose="020E0602020502020306" pitchFamily="34" charset="0"/>
              </a:rPr>
              <a:t>?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¿Puedo acceder a datos de otros?</a:t>
            </a:r>
          </a:p>
          <a:p>
            <a:pPr lvl="2"/>
            <a:r>
              <a:rPr lang="es-ES" sz="2800">
                <a:solidFill>
                  <a:srgbClr val="033878"/>
                </a:solidFill>
                <a:latin typeface="Berlin Sans FB" panose="020E0602020502020306" pitchFamily="34" charset="0"/>
              </a:rPr>
              <a:t>Técnicas: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IDOR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Broken Access Control</a:t>
            </a:r>
          </a:p>
          <a:p>
            <a:pPr lvl="4"/>
            <a:r>
              <a:rPr lang="es-ES" sz="2800">
                <a:latin typeface="Berlin Sans FB" panose="020E0602020502020306" pitchFamily="34" charset="0"/>
              </a:rPr>
              <a:t>Falta de validación de rol</a:t>
            </a:r>
          </a:p>
        </p:txBody>
      </p:sp>
    </p:spTree>
    <p:extLst>
      <p:ext uri="{BB962C8B-B14F-4D97-AF65-F5344CB8AC3E}">
        <p14:creationId xmlns:p14="http://schemas.microsoft.com/office/powerpoint/2010/main" val="248526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D48E-BE10-F2DD-CE15-347A3C04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11">
            <a:extLst>
              <a:ext uri="{FF2B5EF4-FFF2-40B4-BE49-F238E27FC236}">
                <a16:creationId xmlns:a16="http://schemas.microsoft.com/office/drawing/2014/main" id="{C3018DBA-4827-573A-4A5D-D7ED267974D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EE5AB415-EAC1-0530-CB49-03F212ACD42E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AED86AE1-5DBE-59FD-8A48-A373A99EDF9E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1796FB36-B969-F0A8-D45F-33C16C07B7A5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8642ECE7-B234-3EBF-6FDD-DE24BA142CB7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27018C10-8516-A65A-F4A6-6B24936FD81E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11F970AD-B2B4-50B1-1097-D698812D4E0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13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35717EBE-AC6D-9816-99CE-B664BD8716AD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38C9E27E-7DD6-550A-EF4A-BE4E89739609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37EF6FF-FB3A-55DB-28CA-90B08FDA97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B6E74F-8531-6386-2CD3-459C775DB52B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3CE61DE-4EF7-EFB4-F16C-2A239BEB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63" y="2645058"/>
            <a:ext cx="8190400" cy="1977550"/>
          </a:xfrm>
        </p:spPr>
        <p:txBody>
          <a:bodyPr/>
          <a:lstStyle/>
          <a:p>
            <a:r>
              <a:rPr lang="es-ES" sz="3600">
                <a:latin typeface="Berlin Sans FB" panose="020E0602020502020306" pitchFamily="34" charset="0"/>
              </a:rPr>
              <a:t>Configurar mal no es un bug. Es una bomba de tiempo</a:t>
            </a:r>
            <a:endParaRPr lang="en-US" sz="3600">
              <a:latin typeface="Berlin Sans FB" panose="020E0602020502020306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403E6C-A594-FE29-3148-8DF82D468626}"/>
              </a:ext>
            </a:extLst>
          </p:cNvPr>
          <p:cNvSpPr txBox="1">
            <a:spLocks/>
          </p:cNvSpPr>
          <p:nvPr/>
        </p:nvSpPr>
        <p:spPr>
          <a:xfrm>
            <a:off x="1434713" y="4262608"/>
            <a:ext cx="8189850" cy="360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ptos" panose="020B0004020202020204" pitchFamily="34" charset="0"/>
              </a:rPr>
              <a:t>Security Misconfiguration</a:t>
            </a:r>
          </a:p>
        </p:txBody>
      </p:sp>
    </p:spTree>
    <p:extLst>
      <p:ext uri="{BB962C8B-B14F-4D97-AF65-F5344CB8AC3E}">
        <p14:creationId xmlns:p14="http://schemas.microsoft.com/office/powerpoint/2010/main" val="203804963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E8B5-E04E-3BB6-2F27-06B72C8D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58CC2AD-80F2-2132-E5E4-C7B98F4504B7}"/>
              </a:ext>
            </a:extLst>
          </p:cNvPr>
          <p:cNvSpPr txBox="1">
            <a:spLocks/>
          </p:cNvSpPr>
          <p:nvPr/>
        </p:nvSpPr>
        <p:spPr>
          <a:xfrm>
            <a:off x="1434163" y="2645058"/>
            <a:ext cx="8190400" cy="197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>
                <a:latin typeface="Berlin Sans FB" panose="020E0602020502020306" pitchFamily="34" charset="0"/>
              </a:rPr>
              <a:t>Tu </a:t>
            </a:r>
            <a:r>
              <a:rPr lang="es-ES" sz="3600" err="1">
                <a:latin typeface="Berlin Sans FB" panose="020E0602020502020306" pitchFamily="34" charset="0"/>
              </a:rPr>
              <a:t>backend</a:t>
            </a:r>
            <a:r>
              <a:rPr lang="es-ES" sz="3600">
                <a:latin typeface="Berlin Sans FB" panose="020E0602020502020306" pitchFamily="34" charset="0"/>
              </a:rPr>
              <a:t> no debería ser el navegador de tu atacante</a:t>
            </a:r>
            <a:endParaRPr lang="en-US" sz="3600">
              <a:latin typeface="Berlin Sans FB" panose="020E0602020502020306" pitchFamily="34" charset="0"/>
            </a:endParaRPr>
          </a:p>
        </p:txBody>
      </p:sp>
      <p:pic>
        <p:nvPicPr>
          <p:cNvPr id="45" name="Imagen 11">
            <a:extLst>
              <a:ext uri="{FF2B5EF4-FFF2-40B4-BE49-F238E27FC236}">
                <a16:creationId xmlns:a16="http://schemas.microsoft.com/office/drawing/2014/main" id="{A4D8D9C5-145A-C359-CB14-D787C144C7F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D3587048-0EC2-A06A-227E-C83A5E4CD274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574F571D-8876-C942-4CC7-03B3521AA5C3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332CE93D-6539-2BE9-AA75-BB3AC54B51A3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B3BDAF85-D2B3-09A6-D10B-AFE8EBE6A0B7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06F27BAA-D18E-3776-EC60-F75EC2209A76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DDB3A822-2F3D-0422-4945-63E751AB28F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14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5352BFB6-3F97-EB6C-D3C7-1B93C98A5044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C93BF686-86DC-E5A3-8767-449E2C7A0B9F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E679800-2E63-8679-200A-53838CD429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F3256D1-54DE-44DE-14AE-D7A6FAC2CAF7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04E485A-535A-2E8B-32D7-B33F1850D241}"/>
              </a:ext>
            </a:extLst>
          </p:cNvPr>
          <p:cNvSpPr txBox="1">
            <a:spLocks/>
          </p:cNvSpPr>
          <p:nvPr/>
        </p:nvSpPr>
        <p:spPr>
          <a:xfrm>
            <a:off x="1434713" y="4262608"/>
            <a:ext cx="8189850" cy="360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ptos" panose="020B0004020202020204" pitchFamily="34" charset="0"/>
              </a:rPr>
              <a:t>Server-Side Request Forgery</a:t>
            </a:r>
          </a:p>
        </p:txBody>
      </p:sp>
    </p:spTree>
    <p:extLst>
      <p:ext uri="{BB962C8B-B14F-4D97-AF65-F5344CB8AC3E}">
        <p14:creationId xmlns:p14="http://schemas.microsoft.com/office/powerpoint/2010/main" val="126120664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1F8D-2E18-4F9D-1417-D20A6A48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3E3D9711-A663-8AB1-AEEA-78151DE66B42}"/>
              </a:ext>
            </a:extLst>
          </p:cNvPr>
          <p:cNvSpPr txBox="1">
            <a:spLocks/>
          </p:cNvSpPr>
          <p:nvPr/>
        </p:nvSpPr>
        <p:spPr>
          <a:xfrm>
            <a:off x="1434163" y="2645058"/>
            <a:ext cx="8190400" cy="1977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>
                <a:latin typeface="Berlin Sans FB" panose="020E0602020502020306" pitchFamily="34" charset="0"/>
              </a:rPr>
              <a:t>Nunca </a:t>
            </a:r>
            <a:r>
              <a:rPr lang="es-ES" sz="3600" err="1">
                <a:latin typeface="Berlin Sans FB" panose="020E0602020502020306" pitchFamily="34" charset="0"/>
              </a:rPr>
              <a:t>deserialices</a:t>
            </a:r>
            <a:r>
              <a:rPr lang="es-ES" sz="3600">
                <a:latin typeface="Berlin Sans FB" panose="020E0602020502020306" pitchFamily="34" charset="0"/>
              </a:rPr>
              <a:t> lo que no controlas</a:t>
            </a:r>
            <a:endParaRPr lang="en-US" sz="3600">
              <a:latin typeface="Berlin Sans FB" panose="020E0602020502020306" pitchFamily="34" charset="0"/>
            </a:endParaRPr>
          </a:p>
        </p:txBody>
      </p:sp>
      <p:pic>
        <p:nvPicPr>
          <p:cNvPr id="45" name="Imagen 11">
            <a:extLst>
              <a:ext uri="{FF2B5EF4-FFF2-40B4-BE49-F238E27FC236}">
                <a16:creationId xmlns:a16="http://schemas.microsoft.com/office/drawing/2014/main" id="{BD6BB952-831E-24F6-30A3-206DBD4B4E8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07042F76-2DB8-2F86-D045-5B22EB4026C6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324FED45-CBC1-3D06-BE55-4704AFF01DC6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3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6F97AF61-D533-C909-17A4-E2A0E6CDAB83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D2A9EBA4-C401-733B-6984-F26952545586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85A20498-B11C-D3C8-185E-29ABA3FE198D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C1E6D4FA-5F71-ECA3-91C0-34D230FD502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15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4CCF5715-D2EC-4EC9-6D35-F3B2B22EC23F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71ACF3C0-727A-6944-AD4E-2B2A80F9F533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664771DA-1E2C-F64F-1D50-9B03528ADC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CD23CFC-9D5A-D1AE-C69F-BCEB1CDB26CD}"/>
              </a:ext>
            </a:extLst>
          </p:cNvPr>
          <p:cNvSpPr txBox="1"/>
          <p:nvPr/>
        </p:nvSpPr>
        <p:spPr>
          <a:xfrm>
            <a:off x="2934032" y="1058307"/>
            <a:ext cx="6138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lnSpc>
                <a:spcPct val="90000"/>
              </a:lnSpc>
              <a:defRPr sz="4000" b="0" strike="noStrike" spc="-1">
                <a:solidFill>
                  <a:srgbClr val="033878"/>
                </a:solidFill>
                <a:latin typeface="Berlin Sans FB" panose="020E0602020502020306" pitchFamily="34" charset="0"/>
              </a:defRPr>
            </a:lvl1pPr>
          </a:lstStyle>
          <a:p>
            <a:r>
              <a:rPr lang="es-ES"/>
              <a:t>Atacando un sitio web…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90D898B-7A33-FB0B-7069-663ABAC8E7B5}"/>
              </a:ext>
            </a:extLst>
          </p:cNvPr>
          <p:cNvSpPr txBox="1">
            <a:spLocks/>
          </p:cNvSpPr>
          <p:nvPr/>
        </p:nvSpPr>
        <p:spPr>
          <a:xfrm>
            <a:off x="1434713" y="4262608"/>
            <a:ext cx="8189850" cy="360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ptos" panose="020B0004020202020204" pitchFamily="34" charset="0"/>
              </a:rPr>
              <a:t>Insecure Deserialization</a:t>
            </a:r>
          </a:p>
        </p:txBody>
      </p:sp>
    </p:spTree>
    <p:extLst>
      <p:ext uri="{BB962C8B-B14F-4D97-AF65-F5344CB8AC3E}">
        <p14:creationId xmlns:p14="http://schemas.microsoft.com/office/powerpoint/2010/main" val="365815880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6422-531C-3ABB-3D5B-1AC9A2C3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3" descr="Aquel Coche on X: &quot;El &quot;a puerta cerrada&quot; del Mallorca.  https://t.co/p4sK6NAjju&quot; / X">
            <a:extLst>
              <a:ext uri="{FF2B5EF4-FFF2-40B4-BE49-F238E27FC236}">
                <a16:creationId xmlns:a16="http://schemas.microsoft.com/office/drawing/2014/main" id="{A10C3F6A-CCE7-4D2C-7F55-63A7718F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21" r="22191"/>
          <a:stretch>
            <a:fillRect/>
          </a:stretch>
        </p:blipFill>
        <p:spPr>
          <a:xfrm>
            <a:off x="-29496" y="1055812"/>
            <a:ext cx="5990738" cy="5571068"/>
          </a:xfrm>
          <a:prstGeom prst="rect">
            <a:avLst/>
          </a:prstGeom>
        </p:spPr>
      </p:pic>
      <p:pic>
        <p:nvPicPr>
          <p:cNvPr id="45" name="Imagen 11">
            <a:extLst>
              <a:ext uri="{FF2B5EF4-FFF2-40B4-BE49-F238E27FC236}">
                <a16:creationId xmlns:a16="http://schemas.microsoft.com/office/drawing/2014/main" id="{624414DB-8B12-1EA6-8DA5-DB39F1C547C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-11520" y="6626880"/>
            <a:ext cx="12206160" cy="297360"/>
          </a:xfrm>
          <a:prstGeom prst="rect">
            <a:avLst/>
          </a:prstGeom>
          <a:ln w="0">
            <a:noFill/>
          </a:ln>
        </p:spPr>
      </p:pic>
      <p:grpSp>
        <p:nvGrpSpPr>
          <p:cNvPr id="46" name="Grupo 5">
            <a:extLst>
              <a:ext uri="{FF2B5EF4-FFF2-40B4-BE49-F238E27FC236}">
                <a16:creationId xmlns:a16="http://schemas.microsoft.com/office/drawing/2014/main" id="{1B05DDBF-CD66-08D8-7905-149B6E5AD8E3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7" name="CustomShape 4">
              <a:extLst>
                <a:ext uri="{FF2B5EF4-FFF2-40B4-BE49-F238E27FC236}">
                  <a16:creationId xmlns:a16="http://schemas.microsoft.com/office/drawing/2014/main" id="{649E7239-85FF-89A7-1332-0950A7846AE1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4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B65D1724-DF78-6D14-AFB9-373DFD0A3795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9" name="14 Imagen" descr="EH_Blanco.png">
              <a:extLst>
                <a:ext uri="{FF2B5EF4-FFF2-40B4-BE49-F238E27FC236}">
                  <a16:creationId xmlns:a16="http://schemas.microsoft.com/office/drawing/2014/main" id="{DBBE5C90-3178-DF2E-4B24-1FEB769D19D9}"/>
                </a:ext>
              </a:extLst>
            </p:cNvPr>
            <p:cNvPicPr/>
            <p:nvPr/>
          </p:nvPicPr>
          <p:blipFill>
            <a:blip r:embed="rId6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" name="8 Rectángulo">
            <a:extLst>
              <a:ext uri="{FF2B5EF4-FFF2-40B4-BE49-F238E27FC236}">
                <a16:creationId xmlns:a16="http://schemas.microsoft.com/office/drawing/2014/main" id="{E6CE9C88-0828-48E5-27A1-8BA98967E8DC}"/>
              </a:ext>
            </a:extLst>
          </p:cNvPr>
          <p:cNvSpPr/>
          <p:nvPr/>
        </p:nvSpPr>
        <p:spPr>
          <a:xfrm>
            <a:off x="4562460" y="6633054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EUSKALHACK SECURITY CONGRESS IX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>
            <a:extLst>
              <a:ext uri="{FF2B5EF4-FFF2-40B4-BE49-F238E27FC236}">
                <a16:creationId xmlns:a16="http://schemas.microsoft.com/office/drawing/2014/main" id="{0BAF1D83-DAF0-B726-3B44-2B105D6D2D4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85960" y="6580080"/>
            <a:ext cx="391320" cy="35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1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586C8-2A80-4EEA-9833-4F24FD969A27}" type="slidenum">
              <a:rPr lang="es-ES" sz="1200" b="1" strike="noStrike" spc="-1">
                <a:solidFill>
                  <a:srgbClr val="FFFFFF"/>
                </a:solidFill>
                <a:latin typeface="Calibri"/>
              </a:rPr>
              <a:t>16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2B2B013B-E69D-A3CD-C403-F852277A25E4}"/>
              </a:ext>
            </a:extLst>
          </p:cNvPr>
          <p:cNvSpPr/>
          <p:nvPr/>
        </p:nvSpPr>
        <p:spPr>
          <a:xfrm>
            <a:off x="0" y="1929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sp>
        <p:nvSpPr>
          <p:cNvPr id="2" name="8 Rectángulo">
            <a:extLst>
              <a:ext uri="{FF2B5EF4-FFF2-40B4-BE49-F238E27FC236}">
                <a16:creationId xmlns:a16="http://schemas.microsoft.com/office/drawing/2014/main" id="{EA758560-3E4F-211E-F91E-6A20722E260F}"/>
              </a:ext>
            </a:extLst>
          </p:cNvPr>
          <p:cNvSpPr/>
          <p:nvPr/>
        </p:nvSpPr>
        <p:spPr>
          <a:xfrm>
            <a:off x="0" y="6626880"/>
            <a:ext cx="305820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 spc="-1">
                <a:solidFill>
                  <a:srgbClr val="FFFFFF"/>
                </a:solidFill>
                <a:latin typeface="Calibri"/>
              </a:rPr>
              <a:t>Samuel Hernández y David Soto</a:t>
            </a:r>
            <a:endParaRPr lang="es-ES" sz="1200" spc="-1">
              <a:solidFill>
                <a:srgbClr val="000000"/>
              </a:solidFill>
            </a:endParaRPr>
          </a:p>
        </p:txBody>
      </p: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37D76BD7-BD0B-05DF-5184-CEE1B8CAF4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444" y="27353"/>
            <a:ext cx="771157" cy="1034828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EDCC049-64DB-FD7C-A344-C5723ACD35F3}"/>
              </a:ext>
            </a:extLst>
          </p:cNvPr>
          <p:cNvSpPr txBox="1">
            <a:spLocks/>
          </p:cNvSpPr>
          <p:nvPr/>
        </p:nvSpPr>
        <p:spPr>
          <a:xfrm>
            <a:off x="6538913" y="1481924"/>
            <a:ext cx="5653087" cy="118586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33878"/>
                </a:solidFill>
                <a:latin typeface="Berlin Sans FB" panose="020E0602020502020306" pitchFamily="34" charset="0"/>
              </a:rPr>
              <a:t>La </a:t>
            </a:r>
            <a:r>
              <a:rPr lang="en-US" err="1">
                <a:solidFill>
                  <a:srgbClr val="033878"/>
                </a:solidFill>
                <a:latin typeface="Berlin Sans FB" panose="020E0602020502020306" pitchFamily="34" charset="0"/>
              </a:rPr>
              <a:t>seguridad</a:t>
            </a:r>
            <a:r>
              <a:rPr lang="en-US">
                <a:solidFill>
                  <a:srgbClr val="033878"/>
                </a:solidFill>
                <a:latin typeface="Berlin Sans FB" panose="020E0602020502020306" pitchFamily="34" charset="0"/>
              </a:rPr>
              <a:t> no es </a:t>
            </a:r>
            <a:r>
              <a:rPr lang="en-US" err="1">
                <a:solidFill>
                  <a:srgbClr val="033878"/>
                </a:solidFill>
                <a:latin typeface="Berlin Sans FB" panose="020E0602020502020306" pitchFamily="34" charset="0"/>
              </a:rPr>
              <a:t>opcional</a:t>
            </a:r>
            <a:endParaRPr lang="en-US">
              <a:solidFill>
                <a:srgbClr val="033878"/>
              </a:solidFill>
              <a:latin typeface="Berlin Sans FB" panose="020E0602020502020306" pitchFamily="34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5207D5-EE6F-CF06-43F6-0EABD7BF1AE6}"/>
              </a:ext>
            </a:extLst>
          </p:cNvPr>
          <p:cNvSpPr txBox="1">
            <a:spLocks/>
          </p:cNvSpPr>
          <p:nvPr/>
        </p:nvSpPr>
        <p:spPr>
          <a:xfrm>
            <a:off x="6543675" y="2926080"/>
            <a:ext cx="5648325" cy="33683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¡No uses </a:t>
            </a:r>
            <a:r>
              <a:rPr lang="en-US" sz="3200" err="1">
                <a:solidFill>
                  <a:srgbClr val="033878"/>
                </a:solidFill>
                <a:latin typeface="Berlin Sans FB" panose="020E0602020502020306" pitchFamily="34" charset="0"/>
              </a:rPr>
              <a:t>ganchitos</a:t>
            </a:r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 </a:t>
            </a:r>
            <a:r>
              <a:rPr lang="en-US" sz="3200" err="1">
                <a:solidFill>
                  <a:srgbClr val="033878"/>
                </a:solidFill>
                <a:latin typeface="Berlin Sans FB" panose="020E0602020502020306" pitchFamily="34" charset="0"/>
              </a:rPr>
              <a:t>por</a:t>
            </a:r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 favor!</a:t>
            </a:r>
          </a:p>
          <a:p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Los Cheetos se </a:t>
            </a:r>
            <a:r>
              <a:rPr lang="en-US" sz="3200" err="1">
                <a:solidFill>
                  <a:srgbClr val="033878"/>
                </a:solidFill>
                <a:latin typeface="Berlin Sans FB" panose="020E0602020502020306" pitchFamily="34" charset="0"/>
              </a:rPr>
              <a:t>comen</a:t>
            </a:r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, no </a:t>
            </a:r>
            <a:r>
              <a:rPr lang="en-US" sz="3200" err="1">
                <a:solidFill>
                  <a:srgbClr val="033878"/>
                </a:solidFill>
                <a:latin typeface="Berlin Sans FB" panose="020E0602020502020306" pitchFamily="34" charset="0"/>
              </a:rPr>
              <a:t>protegen</a:t>
            </a:r>
            <a:r>
              <a:rPr lang="en-US" sz="3200">
                <a:solidFill>
                  <a:srgbClr val="033878"/>
                </a:solidFill>
                <a:latin typeface="Berlin Sans FB" panose="020E0602020502020306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364167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5">
            <a:extLst>
              <a:ext uri="{FF2B5EF4-FFF2-40B4-BE49-F238E27FC236}">
                <a16:creationId xmlns:a16="http://schemas.microsoft.com/office/drawing/2014/main" id="{FE276382-3D1D-FAB2-1BE0-864A23227FB5}"/>
              </a:ext>
            </a:extLst>
          </p:cNvPr>
          <p:cNvGrpSpPr/>
          <p:nvPr/>
        </p:nvGrpSpPr>
        <p:grpSpPr>
          <a:xfrm>
            <a:off x="-29496" y="171000"/>
            <a:ext cx="12276000" cy="1071360"/>
            <a:chOff x="-19664" y="171000"/>
            <a:chExt cx="12276000" cy="1071360"/>
          </a:xfrm>
        </p:grpSpPr>
        <p:sp>
          <p:nvSpPr>
            <p:cNvPr id="4" name="CustomShape 4">
              <a:extLst>
                <a:ext uri="{FF2B5EF4-FFF2-40B4-BE49-F238E27FC236}">
                  <a16:creationId xmlns:a16="http://schemas.microsoft.com/office/drawing/2014/main" id="{B6EDF362-9DD2-5998-7982-65ACA9F58078}"/>
                </a:ext>
              </a:extLst>
            </p:cNvPr>
            <p:cNvSpPr/>
            <p:nvPr/>
          </p:nvSpPr>
          <p:spPr>
            <a:xfrm>
              <a:off x="236160" y="308520"/>
              <a:ext cx="933840" cy="933840"/>
            </a:xfrm>
            <a:prstGeom prst="flowChartOffpageConnector">
              <a:avLst/>
            </a:prstGeom>
            <a:blipFill rotWithShape="0">
              <a:blip r:embed="rId2"/>
              <a:srcRect/>
              <a:stretch/>
            </a:blipFill>
            <a:ln w="0">
              <a:solidFill>
                <a:srgbClr val="FFFF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s-ES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5" name="Imagen 2">
              <a:extLst>
                <a:ext uri="{FF2B5EF4-FFF2-40B4-BE49-F238E27FC236}">
                  <a16:creationId xmlns:a16="http://schemas.microsoft.com/office/drawing/2014/main" id="{A198DBEA-FED4-52A4-F25D-82D2C03511C3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-19664" y="171000"/>
              <a:ext cx="12276000" cy="88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14 Imagen" descr="EH_Blanco.png">
              <a:extLst>
                <a:ext uri="{FF2B5EF4-FFF2-40B4-BE49-F238E27FC236}">
                  <a16:creationId xmlns:a16="http://schemas.microsoft.com/office/drawing/2014/main" id="{515BF7E0-2A5C-7E0B-479A-FBBE05EA715A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114120" y="180720"/>
              <a:ext cx="1187280" cy="9936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1FB8A2B-8746-717B-A30E-68C573CDC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7119" y="1487956"/>
            <a:ext cx="2384281" cy="4811247"/>
          </a:xfrm>
          <a:prstGeom prst="rect">
            <a:avLst/>
          </a:prstGeom>
        </p:spPr>
      </p:pic>
      <p:sp>
        <p:nvSpPr>
          <p:cNvPr id="7" name="Shape 224">
            <a:extLst>
              <a:ext uri="{FF2B5EF4-FFF2-40B4-BE49-F238E27FC236}">
                <a16:creationId xmlns:a16="http://schemas.microsoft.com/office/drawing/2014/main" id="{603EB5A5-C50C-48AD-8103-68EC4C22E9CE}"/>
              </a:ext>
            </a:extLst>
          </p:cNvPr>
          <p:cNvSpPr txBox="1">
            <a:spLocks/>
          </p:cNvSpPr>
          <p:nvPr/>
        </p:nvSpPr>
        <p:spPr>
          <a:xfrm>
            <a:off x="1980900" y="5378714"/>
            <a:ext cx="8229600" cy="1317643"/>
          </a:xfrm>
          <a:prstGeom prst="rect">
            <a:avLst/>
          </a:prstGeom>
          <a:noFill/>
          <a:ln>
            <a:noFill/>
          </a:ln>
        </p:spPr>
        <p:txBody>
          <a:bodyPr vert="horz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buClr>
                <a:schemeClr val="dk1"/>
              </a:buClr>
              <a:buSzPct val="25000"/>
              <a:buFont typeface="Arial" panose="020B0604020202020204"/>
              <a:buNone/>
            </a:pPr>
            <a:r>
              <a:rPr lang="es-ES" sz="4800">
                <a:solidFill>
                  <a:schemeClr val="dk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Calibri" panose="020F0502020204030204"/>
              </a:rPr>
              <a:t>¡MUCHAS GRACIAS!</a:t>
            </a:r>
          </a:p>
          <a:p>
            <a:pPr marL="285750" indent="-285750">
              <a:spcBef>
                <a:spcPts val="0"/>
              </a:spcBef>
              <a:buClr>
                <a:schemeClr val="dk1"/>
              </a:buClr>
              <a:buSzPct val="25000"/>
              <a:buFont typeface="Arial" panose="020B0604020202020204"/>
              <a:buNone/>
            </a:pPr>
            <a:r>
              <a:rPr lang="es-ES" sz="4800" b="1">
                <a:solidFill>
                  <a:schemeClr val="dk1"/>
                </a:solidFill>
                <a:latin typeface="Rajdhani" panose="02000000000000000000"/>
                <a:ea typeface="Rajdhani" panose="02000000000000000000"/>
                <a:cs typeface="Rajdhani" panose="02000000000000000000"/>
                <a:sym typeface="Rajdhani" panose="02000000000000000000"/>
              </a:rPr>
              <a:t>ESKERRIK ASKO!</a:t>
            </a:r>
          </a:p>
        </p:txBody>
      </p:sp>
      <p:sp>
        <p:nvSpPr>
          <p:cNvPr id="9" name="Rectángulo 9"/>
          <p:cNvSpPr/>
          <p:nvPr/>
        </p:nvSpPr>
        <p:spPr>
          <a:xfrm>
            <a:off x="0" y="203760"/>
            <a:ext cx="12191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4800" spc="-1">
                <a:solidFill>
                  <a:srgbClr val="FFFFFF"/>
                </a:solidFill>
                <a:latin typeface="Berlin Sans FB"/>
              </a:rPr>
              <a:t>HACK &amp; PATCH v2</a:t>
            </a:r>
          </a:p>
        </p:txBody>
      </p:sp>
      <p:pic>
        <p:nvPicPr>
          <p:cNvPr id="10" name="Imagen 9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BC1D5363-BB57-CEB4-374A-D78A980B22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12" y="891847"/>
            <a:ext cx="3401376" cy="481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9029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cf2ba15-c468-47c8-b178-cba8acf110ec}" enabled="1" method="Standard" siteId="{eb25818e-5bd5-49bf-99de-53e3e7b426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677</Words>
  <Application>Microsoft Office PowerPoint</Application>
  <PresentationFormat>Panorámica</PresentationFormat>
  <Paragraphs>174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Aptos</vt:lpstr>
      <vt:lpstr>Arial</vt:lpstr>
      <vt:lpstr>Berlin Sans FB</vt:lpstr>
      <vt:lpstr>Calibri</vt:lpstr>
      <vt:lpstr>Rajdhani</vt:lpstr>
      <vt:lpstr>Symbol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Configurar mal no es un bug. Es una bomba de tiempo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</cp:revision>
  <dcterms:created xsi:type="dcterms:W3CDTF">2023-05-02T08:49:20Z</dcterms:created>
  <dcterms:modified xsi:type="dcterms:W3CDTF">2026-06-26T11:05:52Z</dcterms:modified>
  <dc:language/>
</cp:coreProperties>
</file>